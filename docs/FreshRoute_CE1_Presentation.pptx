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7" r:id="rId3"/>
    <p:sldId id="288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90" r:id="rId13"/>
    <p:sldId id="289" r:id="rId14"/>
    <p:sldId id="286" r:id="rId15"/>
  </p:sldIdLst>
  <p:sldSz cx="14330363" cy="82311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jEPYt9VBLMsnfJ/GAOX5thxM5W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54" y="48"/>
      </p:cViewPr>
      <p:guideLst>
        <p:guide orient="horz" pos="2160"/>
        <p:guide pos="3840"/>
        <p:guide orient="horz" pos="2593"/>
        <p:guide pos="4579"/>
        <p:guide orient="horz" pos="2079"/>
        <p:guide orient="horz" pos="2496"/>
        <p:guide orient="horz" pos="2245"/>
        <p:guide orient="horz" pos="2694"/>
        <p:guide orient="horz" pos="2162"/>
        <p:guide orient="horz" pos="2594"/>
        <p:guide pos="3785"/>
        <p:guide pos="4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37" Type="http://customschemas.google.com/relationships/presentationmetadata" Target="meta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51" name="Google Shape;51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Applications of Machine Learning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Applications of Machine Learning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3" name="Google Shape;26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Applications of Machine Learning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7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7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1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17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17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ubTitle" idx="1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6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6"/>
          <p:cNvSpPr/>
          <p:nvPr/>
        </p:nvSpPr>
        <p:spPr>
          <a:xfrm rot="10800000" flipH="1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6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6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6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6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16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6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16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/>
        </p:nvSpPr>
        <p:spPr>
          <a:xfrm>
            <a:off x="3134773" y="7036631"/>
            <a:ext cx="81503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205359" y="6477391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690016" y="1234252"/>
            <a:ext cx="1166697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1">
                <a:latin typeface="Calibri"/>
              </a:rPr>
              <a:t>FreshRoute — Food Bank Optimizer Model (for India)</a:t>
            </a:r>
            <a:endParaRPr sz="5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3855217" y="3622389"/>
            <a:ext cx="791623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&amp; Machine Learning (24CSE0316)</a:t>
            </a:r>
            <a:endParaRPr sz="3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15970-9C78-BE53-EEC6-DF342EDF41C1}"/>
              </a:ext>
            </a:extLst>
          </p:cNvPr>
          <p:cNvSpPr txBox="1"/>
          <p:nvPr/>
        </p:nvSpPr>
        <p:spPr>
          <a:xfrm>
            <a:off x="5459284" y="4732964"/>
            <a:ext cx="2640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1400" b="1">
                <a:latin typeface="Times New Roman"/>
              </a:rPr>
              <a:t>TEAM DETAILS: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200" b="0">
                <a:latin typeface="Times New Roman"/>
              </a:rPr>
              <a:t>Member 1 — Name, Roll No.  •  Member 2 — Name, Roll No.</a:t>
            </a:r>
          </a:p>
          <a:p>
            <a:pPr algn="ctr"/>
            <a:r>
              <a:rPr sz="1200" b="0">
                <a:latin typeface="Times New Roman"/>
              </a:rPr>
              <a:t>Member 3 — Name, Roll No.  •  Member 4 — Name, Roll No.</a:t>
            </a:r>
          </a:p>
          <a:p>
            <a:pPr algn="ctr"/>
            <a:r>
              <a:rPr sz="1200" b="0">
                <a:latin typeface="Times New Roman"/>
              </a:rPr>
              <a:t>CE-1 • AI/ML 24CSE0316 • B.E. CSE 5th Sem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93F805-E213-FD87-5579-A332C56951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61488-28D4-9E8B-C80A-F72FA03181C7}"/>
              </a:ext>
            </a:extLst>
          </p:cNvPr>
          <p:cNvSpPr txBox="1"/>
          <p:nvPr/>
        </p:nvSpPr>
        <p:spPr>
          <a:xfrm>
            <a:off x="0" y="147051"/>
            <a:ext cx="95375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PROJECT OVERVIEW</a:t>
            </a:r>
            <a:endParaRPr lang="en-IN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2070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What: predicts redistribution_priority (Low / Medium / High) for each surplus donation — who should get it first.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Users: food banks, langars / messes / wedding halls (donors), NGOs &amp; shelters (receivers), volunteers.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Inputs → output: donor + food type + qty + shelf-life + storage + distance + demand → priority + ranked destination.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CE-1 scope: dataset refined, cleaned (618×25, 0 missing), encoded (618×45), analysed — model training in CE-2.</a:t>
            </a:r>
          </a:p>
        </p:txBody>
      </p:sp>
    </p:spTree>
    <p:extLst>
      <p:ext uri="{BB962C8B-B14F-4D97-AF65-F5344CB8AC3E}">
        <p14:creationId xmlns:p14="http://schemas.microsoft.com/office/powerpoint/2010/main" val="180079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A48FC0-5A11-9C23-2BEA-8631179509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3153A-8908-31E8-3C09-E1410D8B7C1A}"/>
              </a:ext>
            </a:extLst>
          </p:cNvPr>
          <p:cNvSpPr txBox="1"/>
          <p:nvPr/>
        </p:nvSpPr>
        <p:spPr>
          <a:xfrm>
            <a:off x="243068" y="181776"/>
            <a:ext cx="74483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2070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Real problem: surplus is perishable &amp; scattered (cooked meals ~8h); donors don't know which food bank has need/capacity.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Result: edible food spoils while nearby shelters face shortages — especially at festivals/weddings &amp; langar surplus peaks.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ML fix: learn priority from supply × urgency × logistics × demand instead of fixed rules; CE-2 adds dispatch ranking.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CE-1 frames it as supervised classification with frozen X/y contract and audited bias (73% Medium).</a:t>
            </a:r>
          </a:p>
        </p:txBody>
      </p:sp>
    </p:spTree>
    <p:extLst>
      <p:ext uri="{BB962C8B-B14F-4D97-AF65-F5344CB8AC3E}">
        <p14:creationId xmlns:p14="http://schemas.microsoft.com/office/powerpoint/2010/main" val="363005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5" name="Google Shape;65;p20"/>
          <p:cNvSpPr txBox="1"/>
          <p:nvPr/>
        </p:nvSpPr>
        <p:spPr>
          <a:xfrm>
            <a:off x="3583236" y="3988454"/>
            <a:ext cx="71664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0"/>
          <p:cNvSpPr txBox="1"/>
          <p:nvPr/>
        </p:nvSpPr>
        <p:spPr>
          <a:xfrm>
            <a:off x="3583236" y="3988454"/>
            <a:ext cx="71664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A9A04-387F-EB89-055D-F890525FEE55}"/>
              </a:ext>
            </a:extLst>
          </p:cNvPr>
          <p:cNvSpPr txBox="1"/>
          <p:nvPr/>
        </p:nvSpPr>
        <p:spPr>
          <a:xfrm>
            <a:off x="1250066" y="1851949"/>
            <a:ext cx="11840901" cy="415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222222"/>
                </a:solidFill>
                <a:latin typeface="Arial"/>
              </a:rPr>
              <a:t>1. Build India-relevant dataset: 600+ records, 7 donor types, 7 food types, 5 food banks (Pb + Chd + Delhi + Jaipur).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2. Deliver zero-missing, de-duplicated data with group-aware imputation — ready for train_test_split.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3. Encode correctly (One-Hot nominals, Label target) + engineer 5 features; freeze X (44) / y contract.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4. EDA with 6 figures + observations to justify features and expose imbalance for CE-2 mitigation.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116B8-31C1-E877-7FBE-04FA44DAA300}"/>
              </a:ext>
            </a:extLst>
          </p:cNvPr>
          <p:cNvSpPr txBox="1"/>
          <p:nvPr/>
        </p:nvSpPr>
        <p:spPr>
          <a:xfrm>
            <a:off x="706056" y="185619"/>
            <a:ext cx="75003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8B811-4531-A867-EC26-7CF89834975E}"/>
              </a:ext>
            </a:extLst>
          </p:cNvPr>
          <p:cNvSpPr txBox="1"/>
          <p:nvPr/>
        </p:nvSpPr>
        <p:spPr>
          <a:xfrm>
            <a:off x="0" y="162442"/>
            <a:ext cx="118177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DATASET COLLECTION &amp; </a:t>
            </a:r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1097280" y="1920240"/>
          <a:ext cx="1207007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59"/>
                <a:gridCol w="4023359"/>
                <a:gridCol w="4023359"/>
              </a:tblGrid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Shape</a:t>
                      </a:r>
                    </a:p>
                  </a:txBody>
                  <a:tcPr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>
                    <a:solidFill>
                      <a:srgbClr val="B31B1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636 ×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seed-42 synthetic, Jan–Mar 2026; 18 dups + errors injected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cleaned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618 ×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 missing; +5 engineered features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encoded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618 ×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29 dummies + label y; X=44, stratify needed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target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M456/H122/L40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Medium 73.8% — imbalanced by design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D285D-D392-1102-FF3A-7B8120FA9137}"/>
              </a:ext>
            </a:extLst>
          </p:cNvPr>
          <p:cNvSpPr txBox="1"/>
          <p:nvPr/>
        </p:nvSpPr>
        <p:spPr>
          <a:xfrm>
            <a:off x="231494" y="173619"/>
            <a:ext cx="114126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" y="1828800"/>
            <a:ext cx="12070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Duplicates: 18 exact rows removed (636 → 618), verified in cleaning_report.json.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Dropped irrelevant: donor_contact_number, remarks (PII/noise).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Normalised: city/food/transport/priority casing (amritsar→Amritsar, y→Yes, med→Medium).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Fixed incorrect → NaN → imputed: –ve qty/dist, shelf 0/500h, temp 60°C; available&gt;donated capped.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Types: donation_date → datetime + month/weekday; counts cast to 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938EA2-06FD-2298-F15E-062F64843549}"/>
              </a:ext>
            </a:extLst>
          </p:cNvPr>
          <p:cNvSpPr txBox="1"/>
          <p:nvPr/>
        </p:nvSpPr>
        <p:spPr>
          <a:xfrm>
            <a:off x="138896" y="112329"/>
            <a:ext cx="75409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HANDLING MISSING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1207007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59"/>
                <a:gridCol w="4023359"/>
                <a:gridCol w="4023359"/>
              </a:tblGrid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Column</a:t>
                      </a:r>
                    </a:p>
                  </a:txBody>
                  <a:tcPr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Was missing</a:t>
                      </a:r>
                    </a:p>
                  </a:txBody>
                  <a:tcPr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>
                    <a:solidFill>
                      <a:srgbClr val="B31B1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storage_temp_C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49 (7.9%)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Median BY storage_condition (Cold≠Room)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quantity_available_kg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Global median (robust)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shelf_life_hours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Global median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beneficiaries_count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Median → int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transport_available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Mode = Yes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Verified: isna().sum()==0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CE697-7145-B0FF-1D03-17F447191223}"/>
              </a:ext>
            </a:extLst>
          </p:cNvPr>
          <p:cNvSpPr txBox="1"/>
          <p:nvPr/>
        </p:nvSpPr>
        <p:spPr>
          <a:xfrm>
            <a:off x="0" y="112329"/>
            <a:ext cx="96764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DATA TRANSFORMATION:CATEGORICAL DATA ENCODING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7280" y="1828800"/>
            <a:ext cx="12070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One-Hot (drop_first, int): city, state, donor_type, food_type, storage_condition, foodbank_id, transport_available → 29 dummies.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Why: all nominal (no order); drop_first avoids dummy trap.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Label target only: High→0, Low→1, Medium→2 (saved in cleaning_report.json); use F1-macro, not accuracy.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Dropped from X: donation_id, donation_date (kept month/weekday). Scaling deferred to CE-2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9350E-2A5C-4DE8-3BEA-559CFA037D34}"/>
              </a:ext>
            </a:extLst>
          </p:cNvPr>
          <p:cNvSpPr txBox="1"/>
          <p:nvPr/>
        </p:nvSpPr>
        <p:spPr>
          <a:xfrm>
            <a:off x="0" y="0"/>
            <a:ext cx="12026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 &amp; VISUALIZATION </a:t>
            </a:r>
          </a:p>
        </p:txBody>
      </p:sp>
      <p:pic>
        <p:nvPicPr>
          <p:cNvPr id="108" name="Picture 107" descr="01_priority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6217920" cy="2560320"/>
          </a:xfrm>
          <a:prstGeom prst="rect">
            <a:avLst/>
          </a:prstGeom>
        </p:spPr>
      </p:pic>
      <p:pic>
        <p:nvPicPr>
          <p:cNvPr id="109" name="Picture 108" descr="03_shelf_prio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0"/>
            <a:ext cx="6217920" cy="2560320"/>
          </a:xfrm>
          <a:prstGeom prst="rect">
            <a:avLst/>
          </a:prstGeom>
        </p:spPr>
      </p:pic>
      <p:pic>
        <p:nvPicPr>
          <p:cNvPr id="110" name="Picture 109" descr="04_donor_cou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72000"/>
            <a:ext cx="6217920" cy="2560320"/>
          </a:xfrm>
          <a:prstGeom prst="rect">
            <a:avLst/>
          </a:prstGeom>
        </p:spPr>
      </p:pic>
      <p:pic>
        <p:nvPicPr>
          <p:cNvPr id="111" name="Picture 110" descr="05_distance_ne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572000"/>
            <a:ext cx="6217920" cy="256032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640080" y="7178040"/>
            <a:ext cx="1298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  <a:latin typeface="Arial"/>
              </a:rPr>
              <a:t>Obs: High = short shelf (~8–12h) + near + high-need; Langar/Restaurant dominate; 73% Medium → stratify + class weights. Full 6 figs in reports/figures/.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10C18-AB39-9E17-2419-FD16E0319B41}"/>
              </a:ext>
            </a:extLst>
          </p:cNvPr>
          <p:cNvSpPr txBox="1"/>
          <p:nvPr/>
        </p:nvSpPr>
        <p:spPr>
          <a:xfrm>
            <a:off x="-1" y="162046"/>
            <a:ext cx="96995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FEATURE SELECTION ENGINEERING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1828800"/>
            <a:ext cx="12070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Engineered: stock_pressure, surplus_ratio, need_per_km (=bene/(dist+1)), is_perishable (&lt;24h), cold_chain_ok.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Corr check: no |r|&gt;0.85 — keep all; CE-2 selects via RF importance / mutual-info.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X = 44 cols (15 numeric/eng + 29 dummies) | y = redistribution_priority (0/1/2).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Contract: train_test_split(stratify=y, random_state=42) mandatory. Full X list in cleaning_report.json.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716522" y="1311008"/>
            <a:ext cx="8592731" cy="3558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3EF347-20CE-89FD-441E-CA5BD7D70CD3}"/>
              </a:ext>
            </a:extLst>
          </p:cNvPr>
          <p:cNvSpPr txBox="1"/>
          <p:nvPr/>
        </p:nvSpPr>
        <p:spPr>
          <a:xfrm>
            <a:off x="1" y="130390"/>
            <a:ext cx="10822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PRE-PROCESSING DATASET SCREENSHOT</a:t>
            </a:r>
          </a:p>
        </p:txBody>
      </p:sp>
      <p:pic>
        <p:nvPicPr>
          <p:cNvPr id="124" name="Picture 123" descr="screenshot_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13350240" cy="3291840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457200" y="5394960"/>
            <a:ext cx="1335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Arial"/>
              </a:rPr>
              <a:t>Cleaned 618×25, missing=0  •  Encoded 618×45  •  y: Medium 456 / High 122 / Low 40  •  Reproduce: python scripts/generate_dataset.py → python scripts/clean_dataset.py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0D164E-8504-7115-039D-8D04C2D7A7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D1CF4-B215-82A9-38AB-FAE669D919B3}"/>
              </a:ext>
            </a:extLst>
          </p:cNvPr>
          <p:cNvSpPr txBox="1"/>
          <p:nvPr/>
        </p:nvSpPr>
        <p:spPr>
          <a:xfrm>
            <a:off x="509286" y="104172"/>
            <a:ext cx="3631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2070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CE-1 done: messy 636×20 → clean 618×25 → encoded 618×45, frozen X/y, 6 EDA figs, scripts + Colab notebook.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Finding: priority driven by perishability × need-per-km, not quantity alone.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Biases logged: imbalance + langar dominance + winter-only dates → mitigations in CE-2.</a:t>
            </a:r>
          </a:p>
        </p:txBody>
      </p:sp>
    </p:spTree>
    <p:extLst>
      <p:ext uri="{BB962C8B-B14F-4D97-AF65-F5344CB8AC3E}">
        <p14:creationId xmlns:p14="http://schemas.microsoft.com/office/powerpoint/2010/main" val="2374072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16905B-9672-292B-CFEA-0C255F093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26D20-8583-A121-DC05-20BADF5D994E}"/>
              </a:ext>
            </a:extLst>
          </p:cNvPr>
          <p:cNvSpPr txBox="1"/>
          <p:nvPr/>
        </p:nvSpPr>
        <p:spPr>
          <a:xfrm>
            <a:off x="468775" y="0"/>
            <a:ext cx="85942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cs typeface="Calibri" panose="020F0502020204030204" pitchFamily="34" charset="0"/>
              </a:rPr>
              <a:t>PROJECT PLANNING &amp; FUTURE SCOPE</a:t>
            </a:r>
            <a:endParaRPr lang="en-IN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2070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CE-2 models: Logistic / RandomForest / XGBoost on F1-macro; stratified split; class weights/SMOTE; per-donor audit + SHAP.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Routing layer: priority + need_per_km + stock_pressure → ranked food-bank / dept / shelter + volunteer dispatch.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Arial"/>
              </a:rPr>
              <a:t>• App + pilot logs (FSSAI/state data), summer data, cold-chain IoT later.</a:t>
            </a:r>
          </a:p>
        </p:txBody>
      </p:sp>
    </p:spTree>
    <p:extLst>
      <p:ext uri="{BB962C8B-B14F-4D97-AF65-F5344CB8AC3E}">
        <p14:creationId xmlns:p14="http://schemas.microsoft.com/office/powerpoint/2010/main" val="1715227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 txBox="1">
            <a:spLocks noGrp="1"/>
          </p:cNvSpPr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200" b="1" i="0">
                <a:latin typeface="Calibri"/>
              </a:rPr>
              <a:t>Thank You — Viva Ready (10 min)</a:t>
            </a:r>
            <a:endParaRPr/>
          </a:p>
        </p:txBody>
      </p:sp>
      <p:sp>
        <p:nvSpPr>
          <p:cNvPr id="267" name="Google Shape;267;p15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68" name="Google Shape;268;p15" descr="How To Write A Thank You Note In Five Easy St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7588" y="1366838"/>
            <a:ext cx="9753600" cy="549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TextBox 268"/>
          <p:cNvSpPr txBox="1"/>
          <p:nvPr/>
        </p:nvSpPr>
        <p:spPr>
          <a:xfrm>
            <a:off x="2286000" y="3840480"/>
            <a:ext cx="9692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222222"/>
                </a:solidFill>
                <a:latin typeface="Arial"/>
              </a:rPr>
              <a:t>FreshRoute CE-1 • 618-row ML-ready dataset • 6 EDA observations • Live demo: raw → cleaned → encoded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169</Words>
  <Application>Microsoft Office PowerPoint</Application>
  <PresentationFormat>Custom</PresentationFormat>
  <Paragraphs>46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Lenovo</cp:lastModifiedBy>
  <cp:revision>11</cp:revision>
  <dcterms:created xsi:type="dcterms:W3CDTF">2010-04-09T07:36:15Z</dcterms:created>
  <dcterms:modified xsi:type="dcterms:W3CDTF">2026-09-01T09:35:13Z</dcterms:modified>
</cp:coreProperties>
</file>